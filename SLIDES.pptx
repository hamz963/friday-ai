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990" y="914400"/>
            <a:ext cx="1828800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92608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rial"/>
              </a:defRPr>
            </a:pPr>
            <a:r>
              <a:t>F.R.I.D.A.Y. AI</a:t>
            </a:r>
          </a:p>
          <a:p>
            <a:pPr algn="ctr">
              <a:defRPr sz="1800" b="1">
                <a:solidFill>
                  <a:srgbClr val="06B6D4"/>
                </a:solidFill>
                <a:latin typeface="Arial"/>
              </a:defRPr>
            </a:pPr>
            <a:r>
              <a:t>Fast, Resilient &amp; Intelligent Desktop Agent Yield-Engine</a:t>
            </a:r>
          </a:p>
          <a:p>
            <a:pPr algn="ctr">
              <a:defRPr sz="1500" b="1">
                <a:solidFill>
                  <a:srgbClr val="FFFFFF"/>
                </a:solidFill>
                <a:latin typeface="Arial"/>
              </a:defRPr>
            </a:pPr>
            <a:r>
              <a:t>Author &amp; Lead Architect: Hamza Abdul Karim</a:t>
            </a:r>
          </a:p>
          <a:p>
            <a:pPr algn="ctr">
              <a:defRPr sz="1300">
                <a:solidFill>
                  <a:srgbClr val="94A3B8"/>
                </a:solidFill>
                <a:latin typeface="Arial"/>
              </a:defRPr>
            </a:pPr>
            <a:r>
              <a:t>Autonomous Personal AI Operating System &amp; Agent Platform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PRODUCT OVERVIEW</a:t>
            </a:r>
          </a:p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Executive Product Vision &amp; Core Philosophy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6B6D4"/>
                </a:solidFill>
              </a:defRPr>
            </a:pPr>
            <a:r>
              <a:t>🎯 Core Promise</a:t>
            </a:r>
          </a:p>
          <a:p>
            <a:br/>
            <a:pPr>
              <a:defRPr sz="1300">
                <a:solidFill>
                  <a:srgbClr val="FFFFFF"/>
                </a:solidFill>
              </a:defRPr>
            </a:pPr>
            <a:r>
              <a:t>Tell Friday what you want. Friday determines how to accomplish it, executes the work safely, verifies the result, and stays with the mission until the objective is completed.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6B6D4"/>
                </a:solidFill>
              </a:defRPr>
            </a:pPr>
            <a:r>
              <a:t>⚡ Key Architectural Pillars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• Local-First Engine: Built natively in Rust for 100% memory safety, ultra-low memory usage, and zero runtime dependencies.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• Computer &amp; Browser Drivers: Direct OS mouse/keyboard control and headless Chrome automation.</a:t>
            </a:r>
          </a:p>
          <a:p>
            <a:br/>
            <a:pPr>
              <a:defRPr sz="1200">
                <a:solidFill>
                  <a:srgbClr val="FFFFFF"/>
                </a:solidFill>
              </a:defRPr>
            </a:pPr>
            <a:r>
              <a:t>• Multi-OS Distribution: Statically compiled native binaries for Windows (.msi), macOS (.dmg), and Linux (.deb).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MARKET POSITION</a:t>
            </a:r>
          </a:p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Competitive Matrix: Friday AI vs OpenJarvis vs OpenClaw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6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F172A"/>
                          </a:solidFill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06B6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F172A"/>
                          </a:solidFill>
                        </a:defRPr>
                      </a:pPr>
                      <a:r>
                        <a:t>Friday AI (This Project)</a:t>
                      </a:r>
                    </a:p>
                  </a:txBody>
                  <a:tcPr>
                    <a:solidFill>
                      <a:srgbClr val="06B6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F172A"/>
                          </a:solidFill>
                        </a:defRPr>
                      </a:pPr>
                      <a:r>
                        <a:t>OpenJarvis</a:t>
                      </a:r>
                    </a:p>
                  </a:txBody>
                  <a:tcPr>
                    <a:solidFill>
                      <a:srgbClr val="06B6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F172A"/>
                          </a:solidFill>
                        </a:defRPr>
                      </a:pPr>
                      <a:r>
                        <a:t>OpenClaw</a:t>
                      </a:r>
                    </a:p>
                  </a:txBody>
                  <a:tcPr>
                    <a:solidFill>
                      <a:srgbClr val="06B6D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Core Language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6B6D4"/>
                          </a:solidFill>
                        </a:defRPr>
                      </a:pPr>
                      <a:r>
                        <a:t>Rust (Native &amp; Memory Safe)</a:t>
                      </a:r>
                    </a:p>
                  </a:txBody>
                  <a:tcPr>
                    <a:solidFill>
                      <a:srgbClr val="0F2D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Python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Python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System Drivers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6B6D4"/>
                          </a:solidFill>
                        </a:defRPr>
                      </a:pPr>
                      <a:r>
                        <a:t>Direct OS &amp; Headless Chrome</a:t>
                      </a:r>
                    </a:p>
                  </a:txBody>
                  <a:tcPr>
                    <a:solidFill>
                      <a:srgbClr val="0F2D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App Shell / Python SDK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Chat Application Hooks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Safety Sandbox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6B6D4"/>
                          </a:solidFill>
                        </a:defRPr>
                      </a:pPr>
                      <a:r>
                        <a:t>Integrated Terminal Sandbox</a:t>
                      </a:r>
                    </a:p>
                  </a:txBody>
                  <a:tcPr>
                    <a:solidFill>
                      <a:srgbClr val="0F2D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External Containers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User Approvals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Speech Refiner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6B6D4"/>
                          </a:solidFill>
                        </a:defRPr>
                      </a:pPr>
                      <a:r>
                        <a:t>Whisper Flow Anomaly Filter</a:t>
                      </a:r>
                    </a:p>
                  </a:txBody>
                  <a:tcPr>
                    <a:solidFill>
                      <a:srgbClr val="0F2D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Standard LLM Templates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Vector Database RAG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Distribution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6B6D4"/>
                          </a:solidFill>
                        </a:defRPr>
                      </a:pPr>
                      <a:r>
                        <a:t>Statically Linked .exe (11.9MB)</a:t>
                      </a:r>
                    </a:p>
                  </a:txBody>
                  <a:tcPr>
                    <a:solidFill>
                      <a:srgbClr val="0F2D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Local Source Code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Local Source Code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SYSTEM DESIGN</a:t>
            </a:r>
          </a:p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16-Crate Modular Workspace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91440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6B6D4"/>
                </a:solidFill>
              </a:defRPr>
            </a:pPr>
            <a:r>
              <a:t>friday-core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Config manager &amp; hardware telemetry profiler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5212080" cy="91440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6B6D4"/>
                </a:solidFill>
              </a:defRPr>
            </a:pPr>
            <a:r>
              <a:t>friday-llm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Multi-provider adapters &amp; HTML scraper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5212080" cy="91440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6B6D4"/>
                </a:solidFill>
              </a:defRPr>
            </a:pPr>
            <a:r>
              <a:t>friday-memory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SQLite message database &amp; embeddings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743200"/>
            <a:ext cx="5212080" cy="91440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6B6D4"/>
                </a:solidFill>
              </a:defRPr>
            </a:pPr>
            <a:r>
              <a:t>friday-refiner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Whisper Flow prompt filler filter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12080" cy="91440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6B6D4"/>
                </a:solidFill>
              </a:defRPr>
            </a:pPr>
            <a:r>
              <a:t>friday-terminal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Sandboxed shell command execution kernel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840480"/>
            <a:ext cx="5212080" cy="91440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6B6D4"/>
                </a:solidFill>
              </a:defRPr>
            </a:pPr>
            <a:r>
              <a:t>friday-git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Repository working tree operator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937759"/>
            <a:ext cx="5212080" cy="91440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6B6D4"/>
                </a:solidFill>
              </a:defRPr>
            </a:pPr>
            <a:r>
              <a:t>friday-generator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100% Free AI Media Studio Engine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937759"/>
            <a:ext cx="5212080" cy="91440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6B6D4"/>
                </a:solidFill>
              </a:defRPr>
            </a:pPr>
            <a:r>
              <a:t>friday-api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Axum REST API &amp; embedded web dashboard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AGENT SYSTEM</a:t>
            </a:r>
          </a:p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Multi-Agent Orchestration &amp; Sub-Task Delegation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383280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06B6D4"/>
                </a:solidFill>
              </a:defRPr>
            </a:pPr>
            <a:r>
              <a:t>Planner Agent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Goal decomposition &amp; dependency trees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828800"/>
            <a:ext cx="3383280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06B6D4"/>
                </a:solidFill>
              </a:defRPr>
            </a:pPr>
            <a:r>
              <a:t>Research Agent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Deep web scraping &amp; data synthesis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828800"/>
            <a:ext cx="3383280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06B6D4"/>
                </a:solidFill>
              </a:defRPr>
            </a:pPr>
            <a:r>
              <a:t>Coding Agent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Code generation &amp; auto-debugging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3383280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06B6D4"/>
                </a:solidFill>
              </a:defRPr>
            </a:pPr>
            <a:r>
              <a:t>Critic Agent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Outcome verification &amp; quality check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840480"/>
            <a:ext cx="3383280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06B6D4"/>
                </a:solidFill>
              </a:defRPr>
            </a:pPr>
            <a:r>
              <a:t>Browser Agent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Automated DOM navigation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840480"/>
            <a:ext cx="3383280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06B6D4"/>
                </a:solidFill>
              </a:defRPr>
            </a:pPr>
            <a:r>
              <a:t>DevOps Agent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CI/CD, Git commits &amp; deployment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SECURITY ARCHITECTURE</a:t>
            </a:r>
          </a:p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Multi-Tiered Security Engine &amp; Command Sandboxing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06B6D4"/>
                </a:solidFill>
              </a:defRPr>
            </a:pPr>
            <a:r>
              <a:t>🛡️  Whisper Flow Speech Filter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Normalizes user stutters and maps speech to strict, pre-approved action parameters before LLM processing.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00400"/>
            <a:ext cx="10728655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06B6D4"/>
                </a:solidFill>
              </a:defRPr>
            </a:pPr>
            <a:r>
              <a:t>🛡️  Terminal Command Sandbox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Regex-based filter inside friday-terminal that blocks destructive commands (e.g. recursive deletes, privilege escalations).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754880"/>
            <a:ext cx="10728655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400">
                <a:solidFill>
                  <a:srgbClr val="06B6D4"/>
                </a:solidFill>
              </a:defRPr>
            </a:pPr>
            <a:r>
              <a:t>🛡️  Safe Diagnostics Scope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Confines automated compiler loops and test executions strictly to approved workspace directories.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GENERATIVE CAPABILITIES</a:t>
            </a:r>
          </a:p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100% Free AI Image &amp; Video Media Studio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06B6D4"/>
                </a:solidFill>
              </a:defRPr>
            </a:pPr>
            <a:r>
              <a:t>🖼️ FLUX.1 Artwork Generation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• 100% Free FLUX.1-schnell 1024x1024 artwork generation.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• Zero API keys, credit cards or subscriptions required.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• Instant HTTP inference saving local .jpg files.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• Interactive Media Studio tab in Web Dashboard.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06B6D4"/>
                </a:solidFill>
              </a:defRPr>
            </a:pPr>
            <a:r>
              <a:t>🎬 AnimateDiff AI Video Engine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• Text-to-Video animation frame flow sequences.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• Local ComfyUI / Automatic1111 bridge (100% Offline).</a:t>
            </a:r>
          </a:p>
          <a:p>
            <a:br/>
            <a:pPr>
              <a:defRPr sz="1100">
                <a:solidFill>
                  <a:srgbClr val="FFFFFF"/>
                </a:solidFill>
              </a:defRPr>
            </a:pPr>
            <a:r>
              <a:t>• Prompt Enhancer auto-optimizes token density for visual quality.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MARKET ANALYSIS</a:t>
            </a:r>
          </a:p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Competitive Advantage: Friday AI vs. Odysseus.ai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6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F172A"/>
                          </a:solidFill>
                        </a:defRPr>
                      </a:pPr>
                      <a:r>
                        <a:t>Metric / Feature</a:t>
                      </a:r>
                    </a:p>
                  </a:txBody>
                  <a:tcPr>
                    <a:solidFill>
                      <a:srgbClr val="06B6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F172A"/>
                          </a:solidFill>
                        </a:defRPr>
                      </a:pPr>
                      <a:r>
                        <a:t>Friday AI (This Project)</a:t>
                      </a:r>
                    </a:p>
                  </a:txBody>
                  <a:tcPr>
                    <a:solidFill>
                      <a:srgbClr val="06B6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F172A"/>
                          </a:solidFill>
                        </a:defRPr>
                      </a:pPr>
                      <a:r>
                        <a:t>Odysseus.ai (PewDiePie)</a:t>
                      </a:r>
                    </a:p>
                  </a:txBody>
                  <a:tcPr>
                    <a:solidFill>
                      <a:srgbClr val="06B6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0F172A"/>
                          </a:solidFill>
                        </a:defRPr>
                      </a:pPr>
                      <a:r>
                        <a:t>OpenInterpreter</a:t>
                      </a:r>
                    </a:p>
                  </a:txBody>
                  <a:tcPr>
                    <a:solidFill>
                      <a:srgbClr val="06B6D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Core Runtime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6B6D4"/>
                          </a:solidFill>
                        </a:defRPr>
                      </a:pPr>
                      <a:r>
                        <a:t>100% Compiled Rust</a:t>
                      </a:r>
                    </a:p>
                  </a:txBody>
                  <a:tcPr>
                    <a:solidFill>
                      <a:srgbClr val="0F2D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Electron / Node.js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Python CLI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Binary Size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6B6D4"/>
                          </a:solidFill>
                        </a:defRPr>
                      </a:pPr>
                      <a:r>
                        <a:t>11.9 MB (Single Binary)</a:t>
                      </a:r>
                    </a:p>
                  </a:txBody>
                  <a:tcPr>
                    <a:solidFill>
                      <a:srgbClr val="0F2D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~250 MB (Electron App)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Requires Python venv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Execution Latency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6B6D4"/>
                          </a:solidFill>
                        </a:defRPr>
                      </a:pPr>
                      <a:r>
                        <a:t>200 ms / 1,000,000 loops</a:t>
                      </a:r>
                    </a:p>
                  </a:txBody>
                  <a:tcPr>
                    <a:solidFill>
                      <a:srgbClr val="0F2D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Standard Web Latency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Multi-second loop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Command Safety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6B6D4"/>
                          </a:solidFill>
                        </a:defRPr>
                      </a:pPr>
                      <a:r>
                        <a:t>Regex Security Sandbox</a:t>
                      </a:r>
                    </a:p>
                  </a:txBody>
                  <a:tcPr>
                    <a:solidFill>
                      <a:srgbClr val="0F2D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Unrestricted Shell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User Confirmations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Free AI Media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6B6D4"/>
                          </a:solidFill>
                        </a:defRPr>
                      </a:pPr>
                      <a:r>
                        <a:t>FLUX.1 &amp; AnimateDiff ($0)</a:t>
                      </a:r>
                    </a:p>
                  </a:txBody>
                  <a:tcPr>
                    <a:solidFill>
                      <a:srgbClr val="0F2D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External API required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ROADMAP</a:t>
            </a:r>
          </a:p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9-Phase Product Development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8655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6B6D4"/>
                </a:solidFill>
              </a:defRPr>
            </a:pPr>
            <a:r>
              <a:t>Phase 1: Foundation</a:t>
            </a:r>
          </a:p>
          <a:p>
            <a:br/>
            <a:pPr>
              <a:defRPr sz="1000">
                <a:solidFill>
                  <a:srgbClr val="FFFFFF"/>
                </a:solidFill>
              </a:defRPr>
            </a:pPr>
            <a:r>
              <a:t>Core runtime, model abstraction &amp; storage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45920"/>
            <a:ext cx="338328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6B6D4"/>
                </a:solidFill>
              </a:defRPr>
            </a:pPr>
            <a:r>
              <a:t>Phase 2: Agents</a:t>
            </a:r>
          </a:p>
          <a:p>
            <a:br/>
            <a:pPr>
              <a:defRPr sz="1000">
                <a:solidFill>
                  <a:srgbClr val="FFFFFF"/>
                </a:solidFill>
              </a:defRPr>
            </a:pPr>
            <a:r>
              <a:t>Planner, critic, verifier &amp; mission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645920"/>
            <a:ext cx="338328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6B6D4"/>
                </a:solidFill>
              </a:defRPr>
            </a:pPr>
            <a:r>
              <a:t>Phase 3: Computer</a:t>
            </a:r>
          </a:p>
          <a:p>
            <a:br/>
            <a:pPr>
              <a:defRPr sz="1000">
                <a:solidFill>
                  <a:srgbClr val="FFFFFF"/>
                </a:solidFill>
              </a:defRPr>
            </a:pPr>
            <a:r>
              <a:t>Terminal sandbox, browser driver &amp; OS automation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08960"/>
            <a:ext cx="338328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6B6D4"/>
                </a:solidFill>
              </a:defRPr>
            </a:pPr>
            <a:r>
              <a:t>Phase 4: Cowork</a:t>
            </a:r>
          </a:p>
          <a:p>
            <a:br/>
            <a:pPr>
              <a:defRPr sz="1000">
                <a:solidFill>
                  <a:srgbClr val="FFFFFF"/>
                </a:solidFill>
              </a:defRPr>
            </a:pPr>
            <a:r>
              <a:t>File intelligence, DOCX, PDF, PPTX, XLSX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108960"/>
            <a:ext cx="338328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6B6D4"/>
                </a:solidFill>
              </a:defRPr>
            </a:pPr>
            <a:r>
              <a:t>Phase 5: Developer</a:t>
            </a:r>
          </a:p>
          <a:p>
            <a:br/>
            <a:pPr>
              <a:defRPr sz="1000">
                <a:solidFill>
                  <a:srgbClr val="FFFFFF"/>
                </a:solidFill>
              </a:defRPr>
            </a:pPr>
            <a:r>
              <a:t>Repository intelligence, Git auto-commit &amp; builds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108960"/>
            <a:ext cx="338328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6B6D4"/>
                </a:solidFill>
              </a:defRPr>
            </a:pPr>
            <a:r>
              <a:t>Phase 6: Multi-Agent</a:t>
            </a:r>
          </a:p>
          <a:p>
            <a:br/>
            <a:pPr>
              <a:defRPr sz="1000">
                <a:solidFill>
                  <a:srgbClr val="FFFFFF"/>
                </a:solidFill>
              </a:defRPr>
            </a:pPr>
            <a:r>
              <a:t>Domain delegation &amp; specialized sub-teams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572000"/>
            <a:ext cx="338328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6B6D4"/>
                </a:solidFill>
              </a:defRPr>
            </a:pPr>
            <a:r>
              <a:t>Phase 7: Voice</a:t>
            </a:r>
          </a:p>
          <a:p>
            <a:br/>
            <a:pPr>
              <a:defRPr sz="1000">
                <a:solidFill>
                  <a:srgbClr val="FFFFFF"/>
                </a:solidFill>
              </a:defRPr>
            </a:pPr>
            <a:r>
              <a:t>CPAL speech recognition &amp; wake word detection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4572000"/>
            <a:ext cx="338328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6B6D4"/>
                </a:solidFill>
              </a:defRPr>
            </a:pPr>
            <a:r>
              <a:t>Phase 8: Proactive</a:t>
            </a:r>
          </a:p>
          <a:p>
            <a:br/>
            <a:pPr>
              <a:defRPr sz="1000">
                <a:solidFill>
                  <a:srgbClr val="FFFFFF"/>
                </a:solidFill>
              </a:defRPr>
            </a:pPr>
            <a:r>
              <a:t>Watch mode &amp; scheduled background monitoring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4572000"/>
            <a:ext cx="3383280" cy="1280160"/>
          </a:xfrm>
          <a:prstGeom prst="roundRect">
            <a:avLst/>
          </a:prstGeom>
          <a:solidFill>
            <a:srgbClr val="1E293B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06B6D4"/>
                </a:solidFill>
              </a:defRPr>
            </a:pPr>
            <a:r>
              <a:t>Phase 9: Ecosystem</a:t>
            </a:r>
          </a:p>
          <a:p>
            <a:br/>
            <a:pPr>
              <a:defRPr sz="1000">
                <a:solidFill>
                  <a:srgbClr val="FFFFFF"/>
                </a:solidFill>
              </a:defRPr>
            </a:pPr>
            <a:r>
              <a:t>Plugins, skills &amp; mobile companion sync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990" y="914400"/>
            <a:ext cx="1828800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92608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F.R.I.D.A.Y. AI</a:t>
            </a:r>
          </a:p>
          <a:p>
            <a:pPr algn="ctr">
              <a:defRPr sz="1800" b="1">
                <a:solidFill>
                  <a:srgbClr val="06B6D4"/>
                </a:solidFill>
              </a:defRPr>
            </a:pPr>
            <a:r>
              <a:t>Created &amp; Designed by Hamza Abdul Karim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t>"Friday, make it happen."</a:t>
            </a:r>
          </a:p>
          <a:p>
            <a:br/>
            <a:pPr algn="ctr">
              <a:defRPr sz="1300">
                <a:solidFill>
                  <a:srgbClr val="94A3B8"/>
                </a:solidFill>
              </a:defRPr>
            </a:pPr>
            <a:r>
              <a:t>Live Demo: https://hamz963.github.io/Friday-AI-Assistant/</a:t>
            </a:r>
          </a:p>
          <a:p>
            <a:pPr algn="ctr">
              <a:defRPr sz="1300">
                <a:solidFill>
                  <a:srgbClr val="94A3B8"/>
                </a:solidFill>
              </a:defRPr>
            </a:pPr>
            <a:r>
              <a:t>GitHub Releases: https://github.com/hamz963/Friday-AI-Assistant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